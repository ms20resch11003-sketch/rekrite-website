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62" r:id="rId4"/>
    <p:sldId id="258" r:id="rId5"/>
    <p:sldId id="259" r:id="rId6"/>
    <p:sldId id="260" r:id="rId7"/>
    <p:sldId id="502" r:id="rId8"/>
    <p:sldId id="299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8D25B-6C6F-2312-FF2B-58FABBE77F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7530EA-15D1-BB2F-C2E4-6212CF349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D4659-690A-DE4F-0091-7962AC246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BD9A-B22E-4CD4-A41B-B4C6D9C16113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C2AB6-D6ED-3986-FDD1-8ACA21A4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1FE50-128B-B477-BA72-0352D57B5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968DC-9607-4900-B645-80B79C755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3462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DD7C6-734F-944B-7415-7BF932BF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97A46-C26C-6B64-6A8C-28D6FEDF6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374DF-77EB-2A71-9D44-5332B98E5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BD9A-B22E-4CD4-A41B-B4C6D9C16113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76178-21CA-CE77-B9E1-E3B87D544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34FBA-E910-B41D-F832-73CF589E7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968DC-9607-4900-B645-80B79C755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008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70D94-6FD3-ADEE-536D-2CFCB6B5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54731-2D6E-0C05-04C6-7A58AE051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A240D-A638-C53C-E4B4-A2F8F397B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BD9A-B22E-4CD4-A41B-B4C6D9C16113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165C8-4E35-2D4D-DB59-48C432B7E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ED8B7-A79E-6035-1AE1-20C826F37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968DC-9607-4900-B645-80B79C755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2637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BAA95-1830-8765-30D5-5D1B7C955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1C055-9FF2-4F46-9D49-77C86A0171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5ED14C-39BC-C0A7-45D9-7C11F8AFC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4A14A-D6FB-4B9C-3AB5-2A5E8914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BD9A-B22E-4CD4-A41B-B4C6D9C16113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5F22B-05F8-E2F0-C7B7-42024CD3E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5F324-B64A-1FDD-5F57-C2ECD18BE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968DC-9607-4900-B645-80B79C755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1415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9774B-9F3E-C23B-6C74-DCFC439F0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26814-90A7-34CC-4280-580A587B8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4B96F-7A2B-57AF-5150-A85F481AB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6CA252-AE67-3878-9E8A-8CF7F5CE8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C75284-B3DC-0DA9-8E59-CBF2D909C4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13B92D-9F9C-9CCF-7EAD-8BF9B9F4C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BD9A-B22E-4CD4-A41B-B4C6D9C16113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B95941-289D-B4CE-FD3D-B614A1321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D037E-4EB0-4E00-97E8-7BB30D98C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968DC-9607-4900-B645-80B79C755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540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A0A58-F392-D437-BC49-5EDC8F2E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609D5F-DB32-EAAD-243F-5AD578521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BD9A-B22E-4CD4-A41B-B4C6D9C16113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3F9E8-2281-8183-D6BA-00AFCF9A7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47485-7141-8802-81FE-0C94AF5B5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968DC-9607-4900-B645-80B79C755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245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198F2-5E11-F075-1567-BC45C956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BD9A-B22E-4CD4-A41B-B4C6D9C16113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352F6D-9355-5255-8542-CF7A110BB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D2E6C-9A79-AB53-56AE-44194331E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968DC-9607-4900-B645-80B79C755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3945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79839-8C39-5E3A-0AF3-43D30DE02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BA46D-08AD-25B8-466B-961EBBDC4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AEFF6-FAEA-94B7-83B9-5533AB18B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47B9A-32D0-3B2F-66B0-4366D352D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BD9A-B22E-4CD4-A41B-B4C6D9C16113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B18A2-9FB1-55E0-0332-DA17B461E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9820A-AB79-8A0D-844F-F8481CEA0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968DC-9607-4900-B645-80B79C755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130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A2027-7BDA-2F48-3A51-5009B4712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31DCE6-3574-4E7C-6148-304C1A2C9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A3165C-56AD-4B72-7EF5-05424FE18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B22F3-3E8F-4C0A-53D6-702EE6AD4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BD9A-B22E-4CD4-A41B-B4C6D9C16113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88DAC-2276-D476-4F30-116C481E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7BF53-5E85-6744-B09F-09E8BA83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968DC-9607-4900-B645-80B79C755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4951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CE346-D8E9-9F18-26A3-196C345A8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6AE1CE-8E1E-BC89-720F-8B8A163A2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D258E-1713-B942-9EE4-8412A01CD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BD9A-B22E-4CD4-A41B-B4C6D9C16113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56904-ACB5-8E3E-A4A2-B69600F2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F8C32-B8EE-9451-54DC-20E04FFBE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968DC-9607-4900-B645-80B79C755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5715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F34427-36CB-652E-AC67-315CD9A94B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E9B1D6-1FD1-9935-3A81-98969D5BE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F6C21-9A13-3E38-4D66-482B83538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BD9A-B22E-4CD4-A41B-B4C6D9C16113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CBFD7-47A8-5B93-B091-A5C0B8EC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9673A-9503-4CE4-5C44-905A79740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968DC-9607-4900-B645-80B79C755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3455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90BD1C-66F9-736E-8E73-5EF43EB4D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71927-FD24-54B6-6493-77B24B8EC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7552F-6733-4678-E29C-A0962EC467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BBD9A-B22E-4CD4-A41B-B4C6D9C16113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A7A40-1155-252A-595C-3479349E0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0E4E5-CCF2-01B0-A047-DAC6B4830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F968DC-9607-4900-B645-80B79C755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874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tif"/><Relationship Id="rId7" Type="http://schemas.openxmlformats.org/officeDocument/2006/relationships/image" Target="../media/image6.jpeg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tif"/><Relationship Id="rId10" Type="http://schemas.openxmlformats.org/officeDocument/2006/relationships/image" Target="../media/image9.tif"/><Relationship Id="rId4" Type="http://schemas.openxmlformats.org/officeDocument/2006/relationships/image" Target="../media/image3.tif"/><Relationship Id="rId9" Type="http://schemas.openxmlformats.org/officeDocument/2006/relationships/image" Target="../media/image8.t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"/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"/><Relationship Id="rId2" Type="http://schemas.openxmlformats.org/officeDocument/2006/relationships/image" Target="../media/image12.t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"/><Relationship Id="rId2" Type="http://schemas.openxmlformats.org/officeDocument/2006/relationships/image" Target="../media/image15.t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18.tif"/><Relationship Id="rId4" Type="http://schemas.openxmlformats.org/officeDocument/2006/relationships/image" Target="../media/image17.t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"/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tif"/><Relationship Id="rId3" Type="http://schemas.openxmlformats.org/officeDocument/2006/relationships/image" Target="../media/image17.tif"/><Relationship Id="rId7" Type="http://schemas.openxmlformats.org/officeDocument/2006/relationships/image" Target="../media/image26.tif"/><Relationship Id="rId2" Type="http://schemas.openxmlformats.org/officeDocument/2006/relationships/image" Target="../media/image23.t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tif"/><Relationship Id="rId5" Type="http://schemas.openxmlformats.org/officeDocument/2006/relationships/image" Target="../media/image24.tif"/><Relationship Id="rId4" Type="http://schemas.openxmlformats.org/officeDocument/2006/relationships/image" Target="../media/image16.t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"/><Relationship Id="rId7" Type="http://schemas.openxmlformats.org/officeDocument/2006/relationships/image" Target="../media/image33.tif"/><Relationship Id="rId2" Type="http://schemas.openxmlformats.org/officeDocument/2006/relationships/image" Target="../media/image28.t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tif"/><Relationship Id="rId5" Type="http://schemas.openxmlformats.org/officeDocument/2006/relationships/image" Target="../media/image31.tif"/><Relationship Id="rId4" Type="http://schemas.openxmlformats.org/officeDocument/2006/relationships/image" Target="../media/image30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BAF104-A835-A73D-233C-C9B4494F2DD8}"/>
              </a:ext>
            </a:extLst>
          </p:cNvPr>
          <p:cNvSpPr txBox="1"/>
          <p:nvPr/>
        </p:nvSpPr>
        <p:spPr>
          <a:xfrm>
            <a:off x="228600" y="106680"/>
            <a:ext cx="117408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b="1" dirty="0"/>
              <a:t>Engineering Bacterial Nanocellulose Suspensions</a:t>
            </a:r>
            <a:endParaRPr lang="en-AU" sz="4400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99844A-EDFA-282D-42A6-EBCAE57143A0}"/>
              </a:ext>
            </a:extLst>
          </p:cNvPr>
          <p:cNvSpPr txBox="1"/>
          <p:nvPr/>
        </p:nvSpPr>
        <p:spPr>
          <a:xfrm>
            <a:off x="146304" y="1934063"/>
            <a:ext cx="89336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AU" dirty="0"/>
              <a:t>Our expertise lies in tailoring nanofibril morphology, surface chemistry, and interparticle interactions to control suspension stability and rheological behaviour.</a:t>
            </a:r>
          </a:p>
        </p:txBody>
      </p:sp>
    </p:spTree>
    <p:extLst>
      <p:ext uri="{BB962C8B-B14F-4D97-AF65-F5344CB8AC3E}">
        <p14:creationId xmlns:p14="http://schemas.microsoft.com/office/powerpoint/2010/main" val="2834436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ABAA66-FDB3-58A3-E0E5-E307A56ADAA7}"/>
              </a:ext>
            </a:extLst>
          </p:cNvPr>
          <p:cNvSpPr txBox="1"/>
          <p:nvPr/>
        </p:nvSpPr>
        <p:spPr>
          <a:xfrm>
            <a:off x="173736" y="109728"/>
            <a:ext cx="7562088" cy="76944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Cellulose Nanocrystals CNCs</a:t>
            </a:r>
            <a:endParaRPr lang="en-AU" sz="44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1A6408-66E2-A35D-BD7E-685F485FF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30" y="1020467"/>
            <a:ext cx="3247195" cy="325968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738D326-4C5F-7FA5-DFED-863B6D266EEB}"/>
              </a:ext>
            </a:extLst>
          </p:cNvPr>
          <p:cNvGrpSpPr/>
          <p:nvPr/>
        </p:nvGrpSpPr>
        <p:grpSpPr>
          <a:xfrm>
            <a:off x="283464" y="974237"/>
            <a:ext cx="10332720" cy="3361765"/>
            <a:chOff x="-3757370" y="3352800"/>
            <a:chExt cx="10332720" cy="336176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A81994C-5EED-34D6-8D9D-1A526416969F}"/>
                </a:ext>
              </a:extLst>
            </p:cNvPr>
            <p:cNvGrpSpPr/>
            <p:nvPr/>
          </p:nvGrpSpPr>
          <p:grpSpPr>
            <a:xfrm>
              <a:off x="-219788" y="3399030"/>
              <a:ext cx="6731129" cy="3247898"/>
              <a:chOff x="-219788" y="3134571"/>
              <a:chExt cx="6731129" cy="3247898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F371BA1-FBA3-76E5-05DE-CAA8C1DFF7F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069533" y="3134571"/>
                <a:ext cx="3441808" cy="3247898"/>
                <a:chOff x="4495788" y="377868"/>
                <a:chExt cx="2395077" cy="2385221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13B0F74E-A914-7EA8-CE88-8803FFC3CD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95788" y="377868"/>
                  <a:ext cx="2395077" cy="2385221"/>
                </a:xfrm>
                <a:prstGeom prst="rect">
                  <a:avLst/>
                </a:prstGeom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A1D1236B-2548-9C01-E8B9-C4B560AB85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97308" y="465735"/>
                  <a:ext cx="1329890" cy="1104485"/>
                </a:xfrm>
                <a:prstGeom prst="rect">
                  <a:avLst/>
                </a:prstGeom>
                <a:ln>
                  <a:solidFill>
                    <a:schemeClr val="bg1"/>
                  </a:solidFill>
                </a:ln>
              </p:spPr>
            </p:pic>
          </p:grp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45B4C99-D8C4-4D63-1E7A-65608503CD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19788" y="3134571"/>
                <a:ext cx="3247195" cy="3247195"/>
              </a:xfrm>
              <a:prstGeom prst="rect">
                <a:avLst/>
              </a:prstGeom>
            </p:spPr>
          </p:pic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77D90C-A8B4-A2EB-1B20-429C1838CF04}"/>
                </a:ext>
              </a:extLst>
            </p:cNvPr>
            <p:cNvSpPr/>
            <p:nvPr/>
          </p:nvSpPr>
          <p:spPr>
            <a:xfrm>
              <a:off x="-3757370" y="3352800"/>
              <a:ext cx="10332720" cy="3361765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7F58716-96FD-E634-380A-D7F481CBBB6D}"/>
              </a:ext>
            </a:extLst>
          </p:cNvPr>
          <p:cNvSpPr txBox="1"/>
          <p:nvPr/>
        </p:nvSpPr>
        <p:spPr>
          <a:xfrm>
            <a:off x="7068241" y="4947890"/>
            <a:ext cx="43798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>
                <a:latin typeface="Arial" panose="020B0604020202020204" pitchFamily="34" charset="0"/>
                <a:cs typeface="Arial" panose="020B0604020202020204" pitchFamily="34" charset="0"/>
              </a:rPr>
              <a:t>Morphology &amp; surface characteristics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Length:  900 ± 300nm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Width:     25 ± 10 nm</a:t>
            </a:r>
            <a:endParaRPr lang="en-A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1400" dirty="0">
                <a:latin typeface="Arial" panose="020B0604020202020204" pitchFamily="34" charset="0"/>
                <a:cs typeface="Arial" panose="020B0604020202020204" pitchFamily="34" charset="0"/>
              </a:rPr>
              <a:t>Aspect ratio: 35- 40</a:t>
            </a:r>
          </a:p>
          <a:p>
            <a:r>
              <a:rPr lang="en-AU" sz="1400" b="1" dirty="0">
                <a:latin typeface="Arial" panose="020B0604020202020204" pitchFamily="34" charset="0"/>
                <a:cs typeface="Arial" panose="020B0604020202020204" pitchFamily="34" charset="0"/>
              </a:rPr>
              <a:t>ζ-potential:</a:t>
            </a:r>
            <a:r>
              <a:rPr lang="en-AU" sz="1400" dirty="0">
                <a:latin typeface="Arial" panose="020B0604020202020204" pitchFamily="34" charset="0"/>
                <a:cs typeface="Arial" panose="020B0604020202020204" pitchFamily="34" charset="0"/>
              </a:rPr>
              <a:t> ≈ −34.07 ± 1.25 mV</a:t>
            </a:r>
          </a:p>
          <a:p>
            <a:r>
              <a:rPr lang="en-AU" sz="1400" dirty="0">
                <a:latin typeface="Arial" panose="020B0604020202020204" pitchFamily="34" charset="0"/>
                <a:cs typeface="Arial" panose="020B0604020202020204" pitchFamily="34" charset="0"/>
              </a:rPr>
              <a:t> Mobility (µ</a:t>
            </a:r>
            <a:r>
              <a:rPr lang="en-AU" sz="1400" dirty="0" err="1">
                <a:latin typeface="Arial" panose="020B0604020202020204" pitchFamily="34" charset="0"/>
                <a:cs typeface="Arial" panose="020B0604020202020204" pitchFamily="34" charset="0"/>
              </a:rPr>
              <a:t>m·cm</a:t>
            </a:r>
            <a:r>
              <a:rPr lang="en-AU" sz="1400" dirty="0">
                <a:latin typeface="Arial" panose="020B0604020202020204" pitchFamily="34" charset="0"/>
                <a:cs typeface="Arial" panose="020B0604020202020204" pitchFamily="34" charset="0"/>
              </a:rPr>
              <a:t>/V·s):   −2.670 ± 0.097 µ</a:t>
            </a:r>
            <a:r>
              <a:rPr lang="en-AU" sz="1400" dirty="0" err="1">
                <a:latin typeface="Arial" panose="020B0604020202020204" pitchFamily="34" charset="0"/>
                <a:cs typeface="Arial" panose="020B0604020202020204" pitchFamily="34" charset="0"/>
              </a:rPr>
              <a:t>m·cm</a:t>
            </a:r>
            <a:r>
              <a:rPr lang="en-AU" sz="1400" dirty="0">
                <a:latin typeface="Arial" panose="020B0604020202020204" pitchFamily="34" charset="0"/>
                <a:cs typeface="Arial" panose="020B0604020202020204" pitchFamily="34" charset="0"/>
              </a:rPr>
              <a:t>/V·s</a:t>
            </a:r>
          </a:p>
          <a:p>
            <a:r>
              <a:rPr lang="en-AU" sz="1400" dirty="0" err="1">
                <a:latin typeface="Arial" panose="020B0604020202020204" pitchFamily="34" charset="0"/>
                <a:cs typeface="Arial" panose="020B0604020202020204" pitchFamily="34" charset="0"/>
              </a:rPr>
              <a:t>Sulfate</a:t>
            </a:r>
            <a:r>
              <a:rPr lang="en-AU" sz="1400" dirty="0">
                <a:latin typeface="Arial" panose="020B0604020202020204" pitchFamily="34" charset="0"/>
                <a:cs typeface="Arial" panose="020B0604020202020204" pitchFamily="34" charset="0"/>
              </a:rPr>
              <a:t> group content = 218.3 ± 2.1 µmol g⁻¹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DF6F2-C0D4-751F-A36C-C2863E5F0339}"/>
              </a:ext>
            </a:extLst>
          </p:cNvPr>
          <p:cNvGrpSpPr/>
          <p:nvPr/>
        </p:nvGrpSpPr>
        <p:grpSpPr>
          <a:xfrm>
            <a:off x="504100" y="4710636"/>
            <a:ext cx="4294425" cy="2037636"/>
            <a:chOff x="4144280" y="2918980"/>
            <a:chExt cx="4294425" cy="2037636"/>
          </a:xfrm>
        </p:grpSpPr>
        <p:pic>
          <p:nvPicPr>
            <p:cNvPr id="15" name="Picture 14" descr="A clear glass with liquid in it&#10;&#10;AI-generated content may be incorrect.">
              <a:extLst>
                <a:ext uri="{FF2B5EF4-FFF2-40B4-BE49-F238E27FC236}">
                  <a16:creationId xmlns:a16="http://schemas.microsoft.com/office/drawing/2014/main" id="{466D3587-401D-D767-6700-3443C4CBB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144280" y="2918980"/>
              <a:ext cx="1106344" cy="203763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2048CEB-24D6-9E21-6CA7-4ACA278DE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800" t="17450" r="31800" b="21651"/>
            <a:stretch>
              <a:fillRect/>
            </a:stretch>
          </p:blipFill>
          <p:spPr>
            <a:xfrm>
              <a:off x="7349624" y="2918980"/>
              <a:ext cx="1089081" cy="203763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7D8A74D-18E3-B882-23F8-76A3D1B37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0415" t="6534" r="10829" b="35969"/>
            <a:stretch>
              <a:fillRect/>
            </a:stretch>
          </p:blipFill>
          <p:spPr>
            <a:xfrm>
              <a:off x="5256363" y="2918980"/>
              <a:ext cx="2093261" cy="2037636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558CA077-021C-5DBA-85EE-EB45A9D42E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44"/>
          <a:stretch>
            <a:fillRect/>
          </a:stretch>
        </p:blipFill>
        <p:spPr>
          <a:xfrm>
            <a:off x="4847801" y="4710636"/>
            <a:ext cx="2095866" cy="2037636"/>
          </a:xfrm>
          <a:prstGeom prst="rect">
            <a:avLst/>
          </a:prstGeom>
          <a:ln>
            <a:solidFill>
              <a:srgbClr val="FF9900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5B82DE3-DA25-6575-E38F-6E551A9CEB1B}"/>
              </a:ext>
            </a:extLst>
          </p:cNvPr>
          <p:cNvSpPr txBox="1"/>
          <p:nvPr/>
        </p:nvSpPr>
        <p:spPr>
          <a:xfrm>
            <a:off x="504100" y="4341304"/>
            <a:ext cx="5216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Isotropic to ordered Liquid Crystalline Phase </a:t>
            </a:r>
            <a:endParaRPr lang="en-AU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937F29EF-5E8D-10BF-16D9-91D2220A1750}"/>
              </a:ext>
            </a:extLst>
          </p:cNvPr>
          <p:cNvSpPr/>
          <p:nvPr/>
        </p:nvSpPr>
        <p:spPr>
          <a:xfrm>
            <a:off x="5571862" y="4406918"/>
            <a:ext cx="647743" cy="230076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8B14D31-D5C9-1FC7-BE39-4BEF07F313E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1877" r="33325"/>
          <a:stretch>
            <a:fillRect/>
          </a:stretch>
        </p:blipFill>
        <p:spPr>
          <a:xfrm>
            <a:off x="10658310" y="974237"/>
            <a:ext cx="1439219" cy="214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914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4A0A9A-1A48-04D4-8077-549211F72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267440"/>
            <a:ext cx="5394960" cy="53744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3E784C-FB0F-AD9D-8EB7-97D3A66F92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880" y="267440"/>
            <a:ext cx="6096000" cy="537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065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0A90D2-6B3D-FF62-2592-F3123E07A79B}"/>
              </a:ext>
            </a:extLst>
          </p:cNvPr>
          <p:cNvSpPr txBox="1"/>
          <p:nvPr/>
        </p:nvSpPr>
        <p:spPr>
          <a:xfrm>
            <a:off x="173736" y="109728"/>
            <a:ext cx="7562088" cy="76944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Cellulose nanofibrils CNFs</a:t>
            </a:r>
            <a:endParaRPr lang="en-AU" sz="4400" dirty="0">
              <a:latin typeface="+mj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144B9D-EEFC-9A39-6CE2-B0798331F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896083"/>
            <a:ext cx="4709160" cy="32352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046189-C6E8-CD82-1291-4D6E0D0A76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019" y="896083"/>
            <a:ext cx="4709160" cy="323523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DB3B9B-F935-257E-CF78-54258E9698E8}"/>
              </a:ext>
            </a:extLst>
          </p:cNvPr>
          <p:cNvSpPr txBox="1"/>
          <p:nvPr/>
        </p:nvSpPr>
        <p:spPr>
          <a:xfrm>
            <a:off x="173736" y="4459624"/>
            <a:ext cx="40142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latin typeface="Arial" panose="020B0604020202020204" pitchFamily="34" charset="0"/>
                <a:cs typeface="Arial" panose="020B0604020202020204" pitchFamily="34" charset="0"/>
              </a:rPr>
              <a:t>Morphology &amp; surface characteristics</a:t>
            </a:r>
            <a:b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1600" b="1" dirty="0">
                <a:latin typeface="Arial" panose="020B0604020202020204" pitchFamily="34" charset="0"/>
                <a:cs typeface="Arial" panose="020B0604020202020204" pitchFamily="34" charset="0"/>
              </a:rPr>
              <a:t>Length: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 &gt;50 µm, extending beyond the SEM field of view</a:t>
            </a:r>
            <a:b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1600" b="1" dirty="0">
                <a:latin typeface="Arial" panose="020B0604020202020204" pitchFamily="34" charset="0"/>
                <a:cs typeface="Arial" panose="020B0604020202020204" pitchFamily="34" charset="0"/>
              </a:rPr>
              <a:t>Width: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 86.4 ± 40.8 nm</a:t>
            </a:r>
            <a:b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1600" b="1" dirty="0">
                <a:latin typeface="Arial" panose="020B0604020202020204" pitchFamily="34" charset="0"/>
                <a:cs typeface="Arial" panose="020B0604020202020204" pitchFamily="34" charset="0"/>
              </a:rPr>
              <a:t>Aspect ratio: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 &gt;580</a:t>
            </a:r>
            <a:b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1600" b="1" dirty="0">
                <a:latin typeface="Arial" panose="020B0604020202020204" pitchFamily="34" charset="0"/>
                <a:cs typeface="Arial" panose="020B0604020202020204" pitchFamily="34" charset="0"/>
              </a:rPr>
              <a:t>ζ-potential: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 ≈ 0 mV</a:t>
            </a:r>
            <a:b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1600" b="1" dirty="0">
                <a:latin typeface="Arial" panose="020B0604020202020204" pitchFamily="34" charset="0"/>
                <a:cs typeface="Arial" panose="020B0604020202020204" pitchFamily="34" charset="0"/>
              </a:rPr>
              <a:t>Surface: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 Non-functionalised CNFs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5ECED2C-F4CB-161C-4ECC-D7A48DAC65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953575"/>
            <a:ext cx="1389888" cy="312024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D4BF9A9-D6D4-CA61-8AED-035CFBC35EDA}"/>
              </a:ext>
            </a:extLst>
          </p:cNvPr>
          <p:cNvSpPr txBox="1"/>
          <p:nvPr/>
        </p:nvSpPr>
        <p:spPr>
          <a:xfrm>
            <a:off x="10072116" y="4163670"/>
            <a:ext cx="1819656" cy="73866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Stable suspension with no phase suspension </a:t>
            </a:r>
            <a:endParaRPr lang="en-A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D2BCEE-FC48-1FFB-BBBA-31ECEC59CD8F}"/>
              </a:ext>
            </a:extLst>
          </p:cNvPr>
          <p:cNvSpPr txBox="1"/>
          <p:nvPr/>
        </p:nvSpPr>
        <p:spPr>
          <a:xfrm>
            <a:off x="6096000" y="4231024"/>
            <a:ext cx="37871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AU" sz="1400" dirty="0">
                <a:latin typeface="Arial" panose="020B0604020202020204" pitchFamily="34" charset="0"/>
                <a:cs typeface="Arial" panose="020B0604020202020204" pitchFamily="34" charset="0"/>
              </a:rPr>
              <a:t>Long, highly entangled CNFs can remain physically stable through network formation even without strong electrostatic stabilization.</a:t>
            </a:r>
          </a:p>
        </p:txBody>
      </p:sp>
    </p:spTree>
    <p:extLst>
      <p:ext uri="{BB962C8B-B14F-4D97-AF65-F5344CB8AC3E}">
        <p14:creationId xmlns:p14="http://schemas.microsoft.com/office/powerpoint/2010/main" val="131807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85F617-1549-6A63-50A3-4C630C816730}"/>
              </a:ext>
            </a:extLst>
          </p:cNvPr>
          <p:cNvSpPr txBox="1"/>
          <p:nvPr/>
        </p:nvSpPr>
        <p:spPr>
          <a:xfrm>
            <a:off x="173736" y="109728"/>
            <a:ext cx="7562088" cy="76944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Cellulose nanofibrils CNFs</a:t>
            </a:r>
            <a:endParaRPr lang="en-AU" sz="44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AC1B76-81FE-0611-D601-BD073A7056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285" y="1014291"/>
            <a:ext cx="3961516" cy="27419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9EADCE-E89A-6699-FF61-DC7CFA6A6C44}"/>
              </a:ext>
            </a:extLst>
          </p:cNvPr>
          <p:cNvSpPr txBox="1"/>
          <p:nvPr/>
        </p:nvSpPr>
        <p:spPr>
          <a:xfrm>
            <a:off x="212650" y="4399021"/>
            <a:ext cx="42520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AU" sz="1600" b="1" dirty="0">
                <a:latin typeface="Arial" panose="020B0604020202020204" pitchFamily="34" charset="0"/>
                <a:cs typeface="Arial" panose="020B0604020202020204" pitchFamily="34" charset="0"/>
              </a:rPr>
              <a:t>Morphology &amp; surface characteristics</a:t>
            </a:r>
            <a:b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1600" b="1" dirty="0">
                <a:latin typeface="Arial" panose="020B0604020202020204" pitchFamily="34" charset="0"/>
                <a:cs typeface="Arial" panose="020B0604020202020204" pitchFamily="34" charset="0"/>
              </a:rPr>
              <a:t>Length: 5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.46 ± 1.21 µm</a:t>
            </a:r>
            <a:b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1600" b="1" dirty="0">
                <a:latin typeface="Arial" panose="020B0604020202020204" pitchFamily="34" charset="0"/>
                <a:cs typeface="Arial" panose="020B0604020202020204" pitchFamily="34" charset="0"/>
              </a:rPr>
              <a:t>Width: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 30.3 ± 19.2 nm</a:t>
            </a:r>
            <a:b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1600" b="1" dirty="0">
                <a:latin typeface="Arial" panose="020B0604020202020204" pitchFamily="34" charset="0"/>
                <a:cs typeface="Arial" panose="020B0604020202020204" pitchFamily="34" charset="0"/>
              </a:rPr>
              <a:t>Aspect ratio: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 180</a:t>
            </a:r>
            <a:b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1600" b="1" dirty="0">
                <a:latin typeface="Arial" panose="020B0604020202020204" pitchFamily="34" charset="0"/>
                <a:cs typeface="Arial" panose="020B0604020202020204" pitchFamily="34" charset="0"/>
              </a:rPr>
              <a:t>ζ-potential: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 ≈ -7  mV</a:t>
            </a:r>
            <a:b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1600" b="1" dirty="0">
                <a:latin typeface="Arial" panose="020B0604020202020204" pitchFamily="34" charset="0"/>
                <a:cs typeface="Arial" panose="020B0604020202020204" pitchFamily="34" charset="0"/>
              </a:rPr>
              <a:t>Surface: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 functionalised CNFs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EC1156-74BB-B3F9-6702-DDC0086DDB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212"/>
          <a:stretch>
            <a:fillRect/>
          </a:stretch>
        </p:blipFill>
        <p:spPr>
          <a:xfrm>
            <a:off x="98420" y="950283"/>
            <a:ext cx="2935224" cy="30872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DFACFC-E215-6B24-A87B-05B4A57CCF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339"/>
          <a:stretch>
            <a:fillRect/>
          </a:stretch>
        </p:blipFill>
        <p:spPr>
          <a:xfrm>
            <a:off x="2997069" y="950283"/>
            <a:ext cx="2935224" cy="30923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340EB9-0BBA-660C-76C1-EDE510E511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293" y="3781794"/>
            <a:ext cx="3897508" cy="26480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0F2877-B0EB-C6B5-F63C-0DCA5EF092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630" y="1014291"/>
            <a:ext cx="1456129" cy="495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815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D97D85-5336-BB8D-AE9A-1FAE0218A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1006394"/>
            <a:ext cx="4860894" cy="3359386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29771B0-44DD-B93D-FEF9-D520301A8FB7}"/>
              </a:ext>
            </a:extLst>
          </p:cNvPr>
          <p:cNvGrpSpPr/>
          <p:nvPr/>
        </p:nvGrpSpPr>
        <p:grpSpPr>
          <a:xfrm>
            <a:off x="173736" y="4687968"/>
            <a:ext cx="4626864" cy="1600438"/>
            <a:chOff x="173736" y="4633103"/>
            <a:chExt cx="4252031" cy="141247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3681227-CC26-72C0-500B-6DA693A3BE9B}"/>
                </a:ext>
              </a:extLst>
            </p:cNvPr>
            <p:cNvSpPr txBox="1"/>
            <p:nvPr/>
          </p:nvSpPr>
          <p:spPr>
            <a:xfrm>
              <a:off x="1008126" y="4862822"/>
              <a:ext cx="17899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U" dirty="0"/>
                <a:t>1.73 ± 0.32 µm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E91B5A-4BB6-B529-C03E-A8D7E7C1D58A}"/>
                </a:ext>
              </a:extLst>
            </p:cNvPr>
            <p:cNvSpPr txBox="1"/>
            <p:nvPr/>
          </p:nvSpPr>
          <p:spPr>
            <a:xfrm>
              <a:off x="173736" y="4633103"/>
              <a:ext cx="4252031" cy="1412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AU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Morphology &amp; surface characteristics</a:t>
              </a:r>
              <a:br>
                <a:rPr lang="en-AU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AU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Length: </a:t>
              </a:r>
              <a:br>
                <a:rPr lang="en-AU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AU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Width:</a:t>
              </a:r>
              <a:r>
                <a:rPr lang="en-AU" sz="1600" dirty="0">
                  <a:latin typeface="Arial" panose="020B0604020202020204" pitchFamily="34" charset="0"/>
                  <a:cs typeface="Arial" panose="020B0604020202020204" pitchFamily="34" charset="0"/>
                </a:rPr>
                <a:t> 24.7 ± 12.8 nm.</a:t>
              </a:r>
              <a:br>
                <a:rPr lang="en-AU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AU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Aspect ratio:</a:t>
              </a:r>
              <a:r>
                <a:rPr lang="en-AU" sz="1600" dirty="0">
                  <a:latin typeface="Arial" panose="020B0604020202020204" pitchFamily="34" charset="0"/>
                  <a:cs typeface="Arial" panose="020B0604020202020204" pitchFamily="34" charset="0"/>
                </a:rPr>
                <a:t> 70</a:t>
              </a:r>
              <a:br>
                <a:rPr lang="en-AU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AU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ζ-potential:</a:t>
              </a:r>
              <a:r>
                <a:rPr lang="en-AU" sz="1600" dirty="0">
                  <a:latin typeface="Arial" panose="020B0604020202020204" pitchFamily="34" charset="0"/>
                  <a:cs typeface="Arial" panose="020B0604020202020204" pitchFamily="34" charset="0"/>
                </a:rPr>
                <a:t> ≈ </a:t>
              </a:r>
              <a:r>
                <a:rPr lang="en-AU" sz="1600" dirty="0"/>
                <a:t>−23.0 ± 0.4 mV</a:t>
              </a:r>
              <a:br>
                <a:rPr lang="en-AU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AU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Surface:</a:t>
              </a:r>
              <a:r>
                <a:rPr lang="en-AU" sz="1600" dirty="0">
                  <a:latin typeface="Arial" panose="020B0604020202020204" pitchFamily="34" charset="0"/>
                  <a:cs typeface="Arial" panose="020B0604020202020204" pitchFamily="34" charset="0"/>
                </a:rPr>
                <a:t> functionalised CNFs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6D8975A-999D-4087-C267-6F5261B7C81E}"/>
              </a:ext>
            </a:extLst>
          </p:cNvPr>
          <p:cNvSpPr txBox="1"/>
          <p:nvPr/>
        </p:nvSpPr>
        <p:spPr>
          <a:xfrm>
            <a:off x="173736" y="109728"/>
            <a:ext cx="7562088" cy="76944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Cellulose nanofibrils CNFs</a:t>
            </a:r>
            <a:endParaRPr lang="en-AU" sz="4400" dirty="0"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362973-F641-FB10-89D4-A8220658F6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585" y="1000501"/>
            <a:ext cx="4860895" cy="33534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FE0B7B-7EB5-F731-798D-AD6BEC9912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218" y="598452"/>
            <a:ext cx="765013" cy="376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70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31ECA3-E307-1761-CF5B-7689AC735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481" y="1534181"/>
            <a:ext cx="3010902" cy="24634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D0B823-B915-7BAA-8761-82D866CF2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16" y="1519525"/>
            <a:ext cx="3010902" cy="24634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50BD37-F267-6EDA-4352-F00B12268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12" y="4099993"/>
            <a:ext cx="3370898" cy="27580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6CE98D-A6C8-6E31-2B2B-FA8B72640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1197" y="4192560"/>
            <a:ext cx="3144620" cy="25728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0901C2-40B4-1F23-34D1-5BFD291489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9763" y="3187462"/>
            <a:ext cx="3560285" cy="323662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30F312D-2E49-CB20-85C5-DF050DB2B599}"/>
              </a:ext>
            </a:extLst>
          </p:cNvPr>
          <p:cNvGrpSpPr/>
          <p:nvPr/>
        </p:nvGrpSpPr>
        <p:grpSpPr>
          <a:xfrm>
            <a:off x="6701014" y="1519525"/>
            <a:ext cx="5437895" cy="2336611"/>
            <a:chOff x="6853344" y="1273608"/>
            <a:chExt cx="5250182" cy="21029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ADA1430-989D-EA09-9AFE-A89565D1F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533254" y="1273608"/>
              <a:ext cx="2570272" cy="210295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7D3DFC-E72B-3445-8B0E-80AF5CDD2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53344" y="1302920"/>
              <a:ext cx="2534447" cy="2073638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93F342A-8315-3726-8FC4-AF25A7FE1D87}"/>
              </a:ext>
            </a:extLst>
          </p:cNvPr>
          <p:cNvSpPr txBox="1"/>
          <p:nvPr/>
        </p:nvSpPr>
        <p:spPr>
          <a:xfrm>
            <a:off x="339316" y="332768"/>
            <a:ext cx="6378388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Nanofibrils with varying aspect ratios and network behavior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97FB4A-8515-5B66-8A4F-BAC4D0AC70F6}"/>
              </a:ext>
            </a:extLst>
          </p:cNvPr>
          <p:cNvSpPr txBox="1"/>
          <p:nvPr/>
        </p:nvSpPr>
        <p:spPr>
          <a:xfrm>
            <a:off x="2621512" y="964252"/>
            <a:ext cx="1285011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CNFs</a:t>
            </a:r>
            <a:endParaRPr lang="en-AU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AA71E1-EA98-F784-FE90-D03BD44C0DEE}"/>
              </a:ext>
            </a:extLst>
          </p:cNvPr>
          <p:cNvSpPr txBox="1"/>
          <p:nvPr/>
        </p:nvSpPr>
        <p:spPr>
          <a:xfrm>
            <a:off x="8473542" y="1062925"/>
            <a:ext cx="1285011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CNCs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92354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A5804F-DF2B-9102-6FE1-3A1B5ECF3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06" y="1030941"/>
            <a:ext cx="3469341" cy="26020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AB43D2-4C54-EC64-4C5E-AA4BC03BD2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030941"/>
            <a:ext cx="3469341" cy="26020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C6D7CC-5E9D-7D42-3834-D97C3A1E86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3709146"/>
            <a:ext cx="3357282" cy="25179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796E38-8BD6-67C6-70B9-9D71C3B629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06" y="3709146"/>
            <a:ext cx="3357282" cy="25179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90F1A13-88B5-DF2B-097D-42490F12DD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883" y="1030939"/>
            <a:ext cx="3469342" cy="26020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EAFCF9D-268B-44C5-D335-0831E518F4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883" y="3709146"/>
            <a:ext cx="3469341" cy="260200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E8AD7A6-400F-D2F2-DB98-3DB4F5C5F443}"/>
              </a:ext>
            </a:extLst>
          </p:cNvPr>
          <p:cNvSpPr txBox="1"/>
          <p:nvPr/>
        </p:nvSpPr>
        <p:spPr>
          <a:xfrm>
            <a:off x="788894" y="322729"/>
            <a:ext cx="6378388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Nanofibrils with varying aspect ratios and network behavior</a:t>
            </a:r>
            <a:endParaRPr lang="en-A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59B5BA-9515-4EAA-D49D-AB9E1B05E22A}"/>
              </a:ext>
            </a:extLst>
          </p:cNvPr>
          <p:cNvSpPr txBox="1"/>
          <p:nvPr/>
        </p:nvSpPr>
        <p:spPr>
          <a:xfrm>
            <a:off x="1237841" y="707612"/>
            <a:ext cx="1285011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CNF_LA_1_2</a:t>
            </a:r>
            <a:endParaRPr lang="en-AU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11B391-831D-2FC2-DA9C-39910B80FE3A}"/>
              </a:ext>
            </a:extLst>
          </p:cNvPr>
          <p:cNvSpPr txBox="1"/>
          <p:nvPr/>
        </p:nvSpPr>
        <p:spPr>
          <a:xfrm>
            <a:off x="4787865" y="707612"/>
            <a:ext cx="1285011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CNF_LA_1_9</a:t>
            </a:r>
            <a:endParaRPr lang="en-AU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2719EA-C371-C1D6-0D60-53628DCEEA5C}"/>
              </a:ext>
            </a:extLst>
          </p:cNvPr>
          <p:cNvSpPr txBox="1"/>
          <p:nvPr/>
        </p:nvSpPr>
        <p:spPr>
          <a:xfrm>
            <a:off x="8337889" y="683985"/>
            <a:ext cx="1285011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CNF_OA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301458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2781</TotalTime>
  <Words>275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Deakin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KUMAR</dc:creator>
  <cp:lastModifiedBy>ANURAG KUMAR</cp:lastModifiedBy>
  <cp:revision>3</cp:revision>
  <dcterms:created xsi:type="dcterms:W3CDTF">2026-10-07T06:00:25Z</dcterms:created>
  <dcterms:modified xsi:type="dcterms:W3CDTF">2026-10-12T07:47:14Z</dcterms:modified>
</cp:coreProperties>
</file>